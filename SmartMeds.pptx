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  <p:sldId id="257" r:id="rId3"/>
    <p:sldId id="259" r:id="rId4"/>
    <p:sldId id="272" r:id="rId5"/>
    <p:sldId id="265" r:id="rId6"/>
    <p:sldId id="260" r:id="rId7"/>
    <p:sldId id="270" r:id="rId8"/>
    <p:sldId id="271" r:id="rId9"/>
    <p:sldId id="261" r:id="rId10"/>
    <p:sldId id="262" r:id="rId11"/>
    <p:sldId id="269" r:id="rId12"/>
    <p:sldId id="263" r:id="rId13"/>
    <p:sldId id="264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екция по подразбиране" id="{E21307B1-9378-4FBB-BF4C-5D4FAD52C9F7}">
          <p14:sldIdLst>
            <p14:sldId id="256"/>
            <p14:sldId id="257"/>
            <p14:sldId id="259"/>
            <p14:sldId id="272"/>
            <p14:sldId id="265"/>
            <p14:sldId id="260"/>
            <p14:sldId id="270"/>
            <p14:sldId id="271"/>
            <p14:sldId id="261"/>
            <p14:sldId id="262"/>
            <p14:sldId id="269"/>
            <p14:sldId id="263"/>
            <p14:sldId id="264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FF66"/>
    <a:srgbClr val="FFD1FF"/>
    <a:srgbClr val="FF1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86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73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51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72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77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48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14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194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094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4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719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5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2637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61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09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290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298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371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595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  <p:sldLayoutId id="214748383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 err="1">
                <a:latin typeface="Britannic Bold" panose="020B0903060703020204" pitchFamily="34" charset="0"/>
              </a:rPr>
              <a:t>SmartMeds</a:t>
            </a:r>
            <a:endParaRPr lang="en-US" sz="7200" dirty="0">
              <a:latin typeface="Britannic Bold" panose="020B0903060703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800" dirty="0" err="1">
                <a:latin typeface="Britannic Bold" panose="020B0903060703020204" pitchFamily="34" charset="0"/>
              </a:rPr>
              <a:t>RuntimeTerror</a:t>
            </a:r>
            <a:endParaRPr lang="en-US" sz="28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30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700" y="1042209"/>
            <a:ext cx="8610600" cy="1293028"/>
          </a:xfrm>
        </p:spPr>
        <p:txBody>
          <a:bodyPr>
            <a:normAutofit/>
          </a:bodyPr>
          <a:lstStyle/>
          <a:p>
            <a:pPr algn="ctr"/>
            <a:r>
              <a:rPr lang="bg-BG" sz="5400" b="1" dirty="0">
                <a:latin typeface="Book Antiqua" panose="02040602050305030304" pitchFamily="18" charset="0"/>
              </a:rPr>
              <a:t>Проблем</a:t>
            </a:r>
            <a:endParaRPr lang="en-US" sz="5400" b="1" dirty="0">
              <a:latin typeface="Book Antiqua" panose="0204060205030503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439" y="4609691"/>
            <a:ext cx="3298214" cy="20225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9994" y="193810"/>
            <a:ext cx="2257059" cy="2708471"/>
          </a:xfrm>
          <a:prstGeom prst="rect">
            <a:avLst/>
          </a:prstGeom>
        </p:spPr>
      </p:pic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701919" y="2822331"/>
            <a:ext cx="10788162" cy="3422731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bg-BG" sz="2400" dirty="0"/>
              <a:t>23</a:t>
            </a:r>
            <a:r>
              <a:rPr lang="en-US" sz="2400" dirty="0"/>
              <a:t>%</a:t>
            </a:r>
            <a:r>
              <a:rPr lang="bg-BG" sz="2400" dirty="0"/>
              <a:t> процента от лекарствата в болниците се изхвърлят поради изтекъл срок на годност по данни от 2023 година</a:t>
            </a:r>
            <a:endParaRPr lang="en-US" sz="2400" dirty="0"/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/>
              <a:t>Замърсяване на околната среда</a:t>
            </a:r>
            <a:endParaRPr lang="en-US" sz="2400" dirty="0"/>
          </a:p>
          <a:p>
            <a:pPr algn="ctr">
              <a:buFont typeface="Wingdings" panose="05000000000000000000" pitchFamily="2" charset="2"/>
              <a:buChar char="§"/>
            </a:pPr>
            <a:r>
              <a:rPr lang="ru-RU" sz="2400" dirty="0"/>
              <a:t>Болниците харчат средства, които могат да бъдат спестени</a:t>
            </a:r>
            <a:endParaRPr lang="en-US" sz="2400" dirty="0"/>
          </a:p>
          <a:p>
            <a:pPr marL="0" indent="0" algn="ctr">
              <a:buNone/>
            </a:pPr>
            <a:br>
              <a:rPr lang="ru-RU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8842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847686"/>
            <a:ext cx="10820400" cy="2802467"/>
          </a:xfrm>
        </p:spPr>
        <p:txBody>
          <a:bodyPr>
            <a:normAutofit/>
          </a:bodyPr>
          <a:lstStyle/>
          <a:p>
            <a:pPr algn="ctr"/>
            <a:r>
              <a:rPr lang="bg-BG" sz="6600" b="1" dirty="0"/>
              <a:t>Тук идваме ние</a:t>
            </a:r>
            <a:endParaRPr lang="en-US" sz="6600" b="1" dirty="0"/>
          </a:p>
        </p:txBody>
      </p:sp>
    </p:spTree>
    <p:extLst>
      <p:ext uri="{BB962C8B-B14F-4D97-AF65-F5344CB8AC3E}">
        <p14:creationId xmlns:p14="http://schemas.microsoft.com/office/powerpoint/2010/main" val="36570997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500">
        <p15:prstTrans prst="fallOve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Картина 4" descr="Картина, която съдържа текст, екранна снимка, софтуер, Компютърна икона&#10;&#10;Генерираното от ИИ съдържание може да е неправилно.">
            <a:extLst>
              <a:ext uri="{FF2B5EF4-FFF2-40B4-BE49-F238E27FC236}">
                <a16:creationId xmlns:a16="http://schemas.microsoft.com/office/drawing/2014/main" id="{D8ADEA55-0EB2-2A17-6973-2EB5CD387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8709"/>
            <a:ext cx="12192000" cy="602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85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7766" y="2417326"/>
            <a:ext cx="8903677" cy="1293028"/>
          </a:xfrm>
        </p:spPr>
        <p:txBody>
          <a:bodyPr>
            <a:noAutofit/>
          </a:bodyPr>
          <a:lstStyle/>
          <a:p>
            <a:pPr algn="ctr"/>
            <a:r>
              <a:rPr lang="bg-BG" sz="4800" b="1" dirty="0"/>
              <a:t>С ИДЕЯ, КОЯТО ДОСЕГА НЕ Е СЪЗДАВАНА</a:t>
            </a:r>
            <a:endParaRPr lang="en-US" sz="48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061" y="3771900"/>
            <a:ext cx="2923085" cy="2801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0543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6816" y="2804746"/>
            <a:ext cx="10788162" cy="2244562"/>
          </a:xfrm>
        </p:spPr>
        <p:txBody>
          <a:bodyPr>
            <a:normAutofit fontScale="92500" lnSpcReduction="20000"/>
          </a:bodyPr>
          <a:lstStyle/>
          <a:p>
            <a:pPr algn="ctr">
              <a:buFont typeface="Wingdings" panose="05000000000000000000" pitchFamily="2" charset="2"/>
              <a:buChar char="§"/>
            </a:pP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Чрез </a:t>
            </a:r>
            <a:r>
              <a:rPr lang="en-US" dirty="0" err="1">
                <a:latin typeface="Century Gothic" panose="020B0502020202020204" pitchFamily="34" charset="0"/>
                <a:cs typeface="Cascadia Code SemiBold" panose="020B0609020000020004" pitchFamily="49" charset="0"/>
              </a:rPr>
              <a:t>SmartMeds</a:t>
            </a: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 болниците могат да следят сроковете на годност в целия си инвентар</a:t>
            </a:r>
            <a:endParaRPr lang="en-US" dirty="0">
              <a:latin typeface="Century Gothic" panose="020B0502020202020204" pitchFamily="34" charset="0"/>
              <a:cs typeface="Cascadia Code SemiBold" panose="020B0609020000020004" pitchFamily="49" charset="0"/>
            </a:endParaRPr>
          </a:p>
          <a:p>
            <a:pPr marL="0" indent="0" algn="ctr">
              <a:buNone/>
            </a:pPr>
            <a:endParaRPr lang="en-US" dirty="0">
              <a:latin typeface="Century Gothic" panose="020B0502020202020204" pitchFamily="34" charset="0"/>
              <a:cs typeface="Cascadia Code SemiBold" panose="020B0609020000020004" pitchFamily="49" charset="0"/>
            </a:endParaRP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Добавянето на нови партиди е лесно</a:t>
            </a:r>
            <a:r>
              <a:rPr lang="en-US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 </a:t>
            </a: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и се случва само чрез сканиране на баркода</a:t>
            </a:r>
            <a:endParaRPr lang="en-US" dirty="0">
              <a:latin typeface="Century Gothic" panose="020B0502020202020204" pitchFamily="34" charset="0"/>
              <a:cs typeface="Cascadia Code SemiBold" panose="020B0609020000020004" pitchFamily="49" charset="0"/>
            </a:endParaRPr>
          </a:p>
          <a:p>
            <a:pPr marL="0" indent="0" algn="ctr">
              <a:buNone/>
            </a:pPr>
            <a:endParaRPr lang="bg-BG" dirty="0">
              <a:latin typeface="Century Gothic" panose="020B0502020202020204" pitchFamily="34" charset="0"/>
              <a:cs typeface="Cascadia Code SemiBold" panose="020B0609020000020004" pitchFamily="49" charset="0"/>
            </a:endParaRP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Получавайте автоматично известие 3 месеца преди изтичане на срока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283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FC440-553F-AE04-1285-69E18651A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CE67CAAF-8AD0-70D0-22A4-F86846873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Контейнер за съдържание 4" descr="Картина, която съдържа текст, екранна снимка, софтуер, Компютърна икона">
            <a:extLst>
              <a:ext uri="{FF2B5EF4-FFF2-40B4-BE49-F238E27FC236}">
                <a16:creationId xmlns:a16="http://schemas.microsoft.com/office/drawing/2014/main" id="{883C97D5-FD19-4A91-9DE6-68C7A4489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2124"/>
            <a:ext cx="12167191" cy="5864853"/>
          </a:xfrm>
        </p:spPr>
      </p:pic>
    </p:spTree>
    <p:extLst>
      <p:ext uri="{BB962C8B-B14F-4D97-AF65-F5344CB8AC3E}">
        <p14:creationId xmlns:p14="http://schemas.microsoft.com/office/powerpoint/2010/main" val="345923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1EF09-0AA4-ACED-D552-BDADF487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9DA9A2D0-2DDC-087F-43A3-69A4D42F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Контейнер за съдържание 4" descr="Картина, която съдържа текст, екранна снимка, софтуер, Компютърна икона&#10;&#10;Генерираното от ИИ съдържание може да е неправилно.">
            <a:extLst>
              <a:ext uri="{FF2B5EF4-FFF2-40B4-BE49-F238E27FC236}">
                <a16:creationId xmlns:a16="http://schemas.microsoft.com/office/drawing/2014/main" id="{2E78D745-7F1D-37BA-AC1A-E3A1D10924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5842"/>
            <a:ext cx="12192000" cy="6296129"/>
          </a:xfrm>
        </p:spPr>
      </p:pic>
    </p:spTree>
    <p:extLst>
      <p:ext uri="{BB962C8B-B14F-4D97-AF65-F5344CB8AC3E}">
        <p14:creationId xmlns:p14="http://schemas.microsoft.com/office/powerpoint/2010/main" val="2039280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61716"/>
            <a:ext cx="10820400" cy="2802467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AND THE BEST OF ALL…</a:t>
            </a:r>
          </a:p>
        </p:txBody>
      </p:sp>
    </p:spTree>
    <p:extLst>
      <p:ext uri="{BB962C8B-B14F-4D97-AF65-F5344CB8AC3E}">
        <p14:creationId xmlns:p14="http://schemas.microsoft.com/office/powerpoint/2010/main" val="139913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138" y="2523393"/>
            <a:ext cx="10981592" cy="251712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bg-BG" sz="2400" dirty="0"/>
              <a:t>Системата предоставя възможност да се обявяват лекарства за продажба между болници от един регион.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79" y="3751574"/>
            <a:ext cx="4034497" cy="257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85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879FDDE1-58FA-DCCF-9072-68C71F38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7" name="Контейнер за съдържание 16" descr="Картина, която съдържа текст, екранна снимка, софтуер, Компютърна икона&#10;&#10;Генерираното от ИИ съдържание може да е неправилно.">
            <a:extLst>
              <a:ext uri="{FF2B5EF4-FFF2-40B4-BE49-F238E27FC236}">
                <a16:creationId xmlns:a16="http://schemas.microsoft.com/office/drawing/2014/main" id="{EC7CB9E0-D479-8685-843C-F1025879E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26"/>
            <a:ext cx="12115097" cy="6111212"/>
          </a:xfrm>
        </p:spPr>
      </p:pic>
    </p:spTree>
    <p:extLst>
      <p:ext uri="{BB962C8B-B14F-4D97-AF65-F5344CB8AC3E}">
        <p14:creationId xmlns:p14="http://schemas.microsoft.com/office/powerpoint/2010/main" val="1022266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988363"/>
            <a:ext cx="10820400" cy="2802467"/>
          </a:xfrm>
        </p:spPr>
        <p:txBody>
          <a:bodyPr>
            <a:noAutofit/>
          </a:bodyPr>
          <a:lstStyle/>
          <a:p>
            <a:pPr algn="ctr"/>
            <a:r>
              <a:rPr lang="bg-BG" sz="6600" b="1" dirty="0"/>
              <a:t>КАКВИ СА ПОЛЗИТЕ ОТ ТОВА?</a:t>
            </a:r>
            <a:endParaRPr lang="en-US" sz="6600" b="1" dirty="0"/>
          </a:p>
        </p:txBody>
      </p:sp>
    </p:spTree>
    <p:extLst>
      <p:ext uri="{BB962C8B-B14F-4D97-AF65-F5344CB8AC3E}">
        <p14:creationId xmlns:p14="http://schemas.microsoft.com/office/powerpoint/2010/main" val="123482499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4931" y="3094893"/>
            <a:ext cx="10964008" cy="2719347"/>
          </a:xfrm>
        </p:spPr>
        <p:txBody>
          <a:bodyPr anchor="ctr">
            <a:normAutofit/>
          </a:bodyPr>
          <a:lstStyle/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/>
              <a:t>Спестява милиони левове за болниците!!!</a:t>
            </a: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/>
              <a:t>Без повече изхвърляне на лекарства!!</a:t>
            </a: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/>
              <a:t>Опазва на околната среда!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9581" y="0"/>
            <a:ext cx="4951535" cy="330102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67" y="4111463"/>
            <a:ext cx="2466610" cy="246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23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24467" y="980179"/>
            <a:ext cx="10151533" cy="2604495"/>
          </a:xfrm>
        </p:spPr>
        <p:txBody>
          <a:bodyPr>
            <a:normAutofit/>
          </a:bodyPr>
          <a:lstStyle/>
          <a:p>
            <a:r>
              <a:rPr lang="bg-BG" sz="5400" b="1" dirty="0"/>
              <a:t>Софтуерна Архитектура на разработката</a:t>
            </a:r>
            <a:endParaRPr lang="en-US" sz="5400" b="1" dirty="0"/>
          </a:p>
        </p:txBody>
      </p:sp>
    </p:spTree>
    <p:extLst>
      <p:ext uri="{BB962C8B-B14F-4D97-AF65-F5344CB8AC3E}">
        <p14:creationId xmlns:p14="http://schemas.microsoft.com/office/powerpoint/2010/main" val="1256816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/>
          <p:cNvGrpSpPr/>
          <p:nvPr/>
        </p:nvGrpSpPr>
        <p:grpSpPr>
          <a:xfrm>
            <a:off x="5039263" y="1098482"/>
            <a:ext cx="2191626" cy="1868853"/>
            <a:chOff x="5039263" y="1098482"/>
            <a:chExt cx="2191626" cy="1868853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4512" y="1479481"/>
              <a:ext cx="1227480" cy="1487854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/>
          </p:nvSpPr>
          <p:spPr>
            <a:xfrm>
              <a:off x="5039263" y="1098482"/>
              <a:ext cx="2191626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gradFill>
                    <a:gsLst>
                      <a:gs pos="0">
                        <a:schemeClr val="accent5">
                          <a:lumMod val="50000"/>
                        </a:schemeClr>
                      </a:gs>
                      <a:gs pos="50000">
                        <a:schemeClr val="accent5"/>
                      </a:gs>
                      <a:gs pos="100000">
                        <a:schemeClr val="accent5">
                          <a:lumMod val="60000"/>
                          <a:lumOff val="40000"/>
                        </a:schemeClr>
                      </a:gs>
                    </a:gsLst>
                    <a:lin ang="5400000"/>
                  </a:gradFill>
                  <a:effectLst>
                    <a:reflection blurRad="6350" stA="53000" endA="300" endPos="35500" dir="5400000" sy="-90000" algn="bl" rotWithShape="0"/>
                  </a:effectLst>
                </a:rPr>
                <a:t>ASP.NET MVC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96111" y="2107642"/>
            <a:ext cx="174759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effectLst/>
              </a:rPr>
              <a:t>SQL Server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2133610" y="3467365"/>
            <a:ext cx="2058576" cy="2075140"/>
            <a:chOff x="2133610" y="3467365"/>
            <a:chExt cx="2058576" cy="2075140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9158" y="4054651"/>
              <a:ext cx="1227480" cy="1487854"/>
            </a:xfrm>
            <a:prstGeom prst="rect">
              <a:avLst/>
            </a:prstGeom>
          </p:spPr>
        </p:pic>
        <p:sp>
          <p:nvSpPr>
            <p:cNvPr id="16" name="Rectangle 15"/>
            <p:cNvSpPr/>
            <p:nvPr/>
          </p:nvSpPr>
          <p:spPr>
            <a:xfrm>
              <a:off x="2133610" y="3467365"/>
              <a:ext cx="205857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1" cap="none" spc="0" dirty="0">
                  <a:ln w="12700">
                    <a:solidFill>
                      <a:schemeClr val="accent1"/>
                    </a:solidFill>
                    <a:prstDash val="solid"/>
                  </a:ln>
                  <a:pattFill prst="pct50">
                    <a:fgClr>
                      <a:schemeClr val="accent1"/>
                    </a:fgClr>
                    <a:bgClr>
                      <a:schemeClr val="accent1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accent1"/>
                    </a:outerShdw>
                  </a:effectLst>
                </a:rPr>
                <a:t>Express.js</a:t>
              </a: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7832163" y="3414593"/>
            <a:ext cx="2050561" cy="2125401"/>
            <a:chOff x="7832163" y="3414593"/>
            <a:chExt cx="2050561" cy="2125401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3704" y="4052140"/>
              <a:ext cx="1227480" cy="1487854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>
            <a:xfrm>
              <a:off x="7832163" y="3414593"/>
              <a:ext cx="2050561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600" b="1" dirty="0" err="1">
                  <a:ln w="12700">
                    <a:solidFill>
                      <a:srgbClr val="00B050"/>
                    </a:solidFill>
                    <a:prstDash val="solid"/>
                  </a:ln>
                  <a:solidFill>
                    <a:srgbClr val="99FF66"/>
                  </a:solid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Quarkus</a:t>
              </a:r>
              <a:endParaRPr lang="en-US" sz="3600" b="1" dirty="0">
                <a:ln w="12700">
                  <a:solidFill>
                    <a:srgbClr val="00B050"/>
                  </a:solidFill>
                  <a:prstDash val="solid"/>
                </a:ln>
                <a:solidFill>
                  <a:srgbClr val="99FF66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endParaRPr>
            </a:p>
          </p:txBody>
        </p:sp>
      </p:grpSp>
      <p:sp>
        <p:nvSpPr>
          <p:cNvPr id="20" name="Rectangle 19"/>
          <p:cNvSpPr/>
          <p:nvPr/>
        </p:nvSpPr>
        <p:spPr>
          <a:xfrm>
            <a:off x="9098051" y="4644600"/>
            <a:ext cx="210826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effectLst/>
              </a:rPr>
              <a:t>PostgreSQL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0982" y="4626458"/>
            <a:ext cx="153439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effectLst/>
              </a:rPr>
              <a:t>UPC_DB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999" y="6030966"/>
            <a:ext cx="185339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cap="none" spc="0" dirty="0" err="1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Teseract</a:t>
            </a:r>
            <a:endParaRPr lang="en-US" sz="3200" b="1" cap="none" spc="0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  <p:cxnSp>
        <p:nvCxnSpPr>
          <p:cNvPr id="26" name="Straight Arrow Connector 25"/>
          <p:cNvCxnSpPr>
            <a:endCxn id="23" idx="0"/>
          </p:cNvCxnSpPr>
          <p:nvPr/>
        </p:nvCxnSpPr>
        <p:spPr>
          <a:xfrm flipH="1">
            <a:off x="1367695" y="5384800"/>
            <a:ext cx="1181463" cy="6461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stCxn id="10" idx="2"/>
          </p:cNvCxnSpPr>
          <p:nvPr/>
        </p:nvCxnSpPr>
        <p:spPr>
          <a:xfrm flipH="1">
            <a:off x="4101081" y="2967335"/>
            <a:ext cx="2137171" cy="1512208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0" idx="2"/>
            <a:endCxn id="18" idx="1"/>
          </p:cNvCxnSpPr>
          <p:nvPr/>
        </p:nvCxnSpPr>
        <p:spPr>
          <a:xfrm>
            <a:off x="6238252" y="2967335"/>
            <a:ext cx="2005452" cy="182873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/>
      <p:bldP spid="21" grpId="0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09569" y="2363831"/>
            <a:ext cx="8428910" cy="255454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bg-BG" sz="8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Благодарим Ви </a:t>
            </a:r>
          </a:p>
          <a:p>
            <a:pPr algn="ctr"/>
            <a:r>
              <a:rPr lang="bg-BG" sz="8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за вниманието!</a:t>
            </a:r>
            <a:endParaRPr lang="en-US" sz="8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9126289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202</TotalTime>
  <Words>151</Words>
  <Application>Microsoft Office PowerPoint</Application>
  <PresentationFormat>Широк екран</PresentationFormat>
  <Paragraphs>30</Paragraphs>
  <Slides>16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16</vt:i4>
      </vt:variant>
    </vt:vector>
  </HeadingPairs>
  <TitlesOfParts>
    <vt:vector size="22" baseType="lpstr">
      <vt:lpstr>Arial</vt:lpstr>
      <vt:lpstr>Book Antiqua</vt:lpstr>
      <vt:lpstr>Britannic Bold</vt:lpstr>
      <vt:lpstr>Century Gothic</vt:lpstr>
      <vt:lpstr>Wingdings</vt:lpstr>
      <vt:lpstr>Vapor Trail</vt:lpstr>
      <vt:lpstr>SmartMeds</vt:lpstr>
      <vt:lpstr>Проблем</vt:lpstr>
      <vt:lpstr>Тук идваме ние</vt:lpstr>
      <vt:lpstr>Презентация на PowerPoint</vt:lpstr>
      <vt:lpstr>С ИДЕЯ, КОЯТО ДОСЕГА НЕ Е СЪЗДАВАНА</vt:lpstr>
      <vt:lpstr>Презентация на PowerPoint</vt:lpstr>
      <vt:lpstr>Презентация на PowerPoint</vt:lpstr>
      <vt:lpstr>Презентация на PowerPoint</vt:lpstr>
      <vt:lpstr>AND THE BEST OF ALL…</vt:lpstr>
      <vt:lpstr>Презентация на PowerPoint</vt:lpstr>
      <vt:lpstr>Презентация на PowerPoint</vt:lpstr>
      <vt:lpstr>КАКВИ СА ПОЛЗИТЕ ОТ ТОВА?</vt:lpstr>
      <vt:lpstr>Презентация на PowerPoint</vt:lpstr>
      <vt:lpstr>Софтуерна Архитектура на разработката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SmartMeds</dc:title>
  <dc:creator>Sisi</dc:creator>
  <cp:lastModifiedBy>Georgi Shishkov</cp:lastModifiedBy>
  <cp:revision>21</cp:revision>
  <dcterms:created xsi:type="dcterms:W3CDTF">2025-11-30T07:28:17Z</dcterms:created>
  <dcterms:modified xsi:type="dcterms:W3CDTF">2025-11-30T13:13:25Z</dcterms:modified>
</cp:coreProperties>
</file>