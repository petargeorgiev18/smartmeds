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9" r:id="rId4"/>
    <p:sldId id="265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FFD1FF"/>
    <a:srgbClr val="FF1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7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5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72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7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4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9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9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1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15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637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61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09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9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29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7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B590C-353F-468F-9CC7-B6FCF485157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47296-B870-45C3-B19F-2589A0338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9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 err="1" smtClean="0">
                <a:latin typeface="Britannic Bold" panose="020B0903060703020204" pitchFamily="34" charset="0"/>
              </a:rPr>
              <a:t>SmartMeds</a:t>
            </a:r>
            <a:endParaRPr lang="en-US" sz="7200" dirty="0">
              <a:latin typeface="Britannic Bold" panose="020B0903060703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err="1" smtClean="0">
                <a:latin typeface="Britannic Bold" panose="020B0903060703020204" pitchFamily="34" charset="0"/>
              </a:rPr>
              <a:t>RuntimeTerror</a:t>
            </a:r>
            <a:endParaRPr lang="en-US" sz="2800" dirty="0"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0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0" y="1042209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bg-BG" sz="5400" b="1" dirty="0" smtClean="0">
                <a:latin typeface="Book Antiqua" panose="02040602050305030304" pitchFamily="18" charset="0"/>
              </a:rPr>
              <a:t>Проблем</a:t>
            </a:r>
            <a:endParaRPr lang="en-US" sz="5400" b="1" dirty="0">
              <a:latin typeface="Book Antiqua" panose="0204060205030503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39" y="4609691"/>
            <a:ext cx="3298214" cy="20225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994" y="193810"/>
            <a:ext cx="2257059" cy="270847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01919" y="2822331"/>
            <a:ext cx="10788162" cy="3422731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bg-BG" sz="2400" dirty="0" smtClean="0"/>
              <a:t>23</a:t>
            </a:r>
            <a:r>
              <a:rPr lang="en-US" sz="2400" dirty="0" smtClean="0"/>
              <a:t>%</a:t>
            </a:r>
            <a:r>
              <a:rPr lang="bg-BG" sz="2400" dirty="0" smtClean="0"/>
              <a:t> процента от лекарствата в болниците се изхвърлят </a:t>
            </a:r>
            <a:r>
              <a:rPr lang="bg-BG" sz="2400" dirty="0" smtClean="0"/>
              <a:t>поради изтекъл </a:t>
            </a:r>
            <a:r>
              <a:rPr lang="bg-BG" sz="2400" dirty="0" smtClean="0"/>
              <a:t>срок на годност по данни от 2023 </a:t>
            </a:r>
            <a:r>
              <a:rPr lang="bg-BG" sz="2400" dirty="0" smtClean="0"/>
              <a:t>година</a:t>
            </a:r>
            <a:endParaRPr lang="en-US" sz="2400" dirty="0" smtClean="0"/>
          </a:p>
          <a:p>
            <a:pPr algn="ctr">
              <a:buFont typeface="Wingdings" panose="05000000000000000000" pitchFamily="2" charset="2"/>
              <a:buChar char="§"/>
            </a:pPr>
            <a:r>
              <a:rPr lang="bg-BG" sz="2400" dirty="0" smtClean="0"/>
              <a:t>Замърсяване </a:t>
            </a:r>
            <a:r>
              <a:rPr lang="bg-BG" sz="2400" dirty="0" smtClean="0"/>
              <a:t>на околната </a:t>
            </a:r>
            <a:r>
              <a:rPr lang="bg-BG" sz="2400" dirty="0" smtClean="0"/>
              <a:t>среда</a:t>
            </a:r>
            <a:endParaRPr lang="en-US" sz="2400" dirty="0" smtClean="0"/>
          </a:p>
          <a:p>
            <a:pPr algn="ctr">
              <a:buFont typeface="Wingdings" panose="05000000000000000000" pitchFamily="2" charset="2"/>
              <a:buChar char="§"/>
            </a:pPr>
            <a:r>
              <a:rPr lang="ru-RU" sz="2400" dirty="0" smtClean="0"/>
              <a:t>Болниците </a:t>
            </a:r>
            <a:r>
              <a:rPr lang="ru-RU" sz="2400" dirty="0"/>
              <a:t>харчат средства, които могат да бъдат </a:t>
            </a:r>
            <a:r>
              <a:rPr lang="ru-RU" sz="2400" dirty="0" smtClean="0"/>
              <a:t>спестени</a:t>
            </a:r>
            <a:endParaRPr lang="en-US" sz="2400" dirty="0" smtClean="0"/>
          </a:p>
          <a:p>
            <a:pPr marL="0" indent="0" algn="ctr">
              <a:buNone/>
            </a:pPr>
            <a:r>
              <a:rPr lang="ru-RU" sz="2400" dirty="0"/>
              <a:t/>
            </a:r>
            <a:br>
              <a:rPr lang="ru-RU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842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47686"/>
            <a:ext cx="10820400" cy="2802467"/>
          </a:xfrm>
        </p:spPr>
        <p:txBody>
          <a:bodyPr>
            <a:normAutofit/>
          </a:bodyPr>
          <a:lstStyle/>
          <a:p>
            <a:pPr algn="ctr"/>
            <a:r>
              <a:rPr lang="bg-BG" sz="6600" b="1" dirty="0" smtClean="0"/>
              <a:t>Тук идваме ние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6570997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766" y="2417326"/>
            <a:ext cx="8903677" cy="1293028"/>
          </a:xfrm>
        </p:spPr>
        <p:txBody>
          <a:bodyPr>
            <a:noAutofit/>
          </a:bodyPr>
          <a:lstStyle/>
          <a:p>
            <a:pPr algn="ctr"/>
            <a:r>
              <a:rPr lang="bg-BG" sz="4800" b="1" dirty="0" smtClean="0"/>
              <a:t>С ИДЕЯ, КОЯТО ДОСЕГА НЕ Е СЪЗДАВАНА</a:t>
            </a:r>
            <a:endParaRPr lang="en-US" sz="4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61" y="3771900"/>
            <a:ext cx="2923085" cy="280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054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816" y="2804746"/>
            <a:ext cx="10788162" cy="2244562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§"/>
            </a:pPr>
            <a:r>
              <a:rPr lang="bg-BG" dirty="0" smtClean="0">
                <a:latin typeface="Century Gothic" panose="020B0502020202020204" pitchFamily="34" charset="0"/>
                <a:cs typeface="Cascadia Code SemiBold" panose="020B0609020000020004" pitchFamily="49" charset="0"/>
              </a:rPr>
              <a:t>Чрез </a:t>
            </a:r>
            <a:r>
              <a:rPr lang="en-US" dirty="0" err="1" smtClean="0">
                <a:latin typeface="Century Gothic" panose="020B0502020202020204" pitchFamily="34" charset="0"/>
                <a:cs typeface="Cascadia Code SemiBold" panose="020B0609020000020004" pitchFamily="49" charset="0"/>
              </a:rPr>
              <a:t>SmartMeds</a:t>
            </a:r>
            <a:r>
              <a:rPr lang="bg-BG" dirty="0" smtClean="0">
                <a:latin typeface="Century Gothic" panose="020B0502020202020204" pitchFamily="34" charset="0"/>
                <a:cs typeface="Cascadia Code SemiBold" panose="020B0609020000020004" pitchFamily="49" charset="0"/>
              </a:rPr>
              <a:t> болниците могат да следят сроковете на годност в целия си инвентар</a:t>
            </a:r>
            <a:endParaRPr lang="en-US" dirty="0" smtClean="0">
              <a:latin typeface="Century Gothic" panose="020B0502020202020204" pitchFamily="34" charset="0"/>
              <a:cs typeface="Cascadia Code SemiBold" panose="020B0609020000020004" pitchFamily="49" charset="0"/>
            </a:endParaRPr>
          </a:p>
          <a:p>
            <a:pPr algn="ctr">
              <a:buFont typeface="Wingdings" panose="05000000000000000000" pitchFamily="2" charset="2"/>
              <a:buChar char="§"/>
            </a:pPr>
            <a:r>
              <a:rPr lang="bg-BG" dirty="0">
                <a:latin typeface="Century Gothic" panose="020B0502020202020204" pitchFamily="34" charset="0"/>
                <a:cs typeface="Cascadia Code SemiBold" panose="020B0609020000020004" pitchFamily="49" charset="0"/>
              </a:rPr>
              <a:t>Д</a:t>
            </a:r>
            <a:r>
              <a:rPr lang="bg-BG" dirty="0" smtClean="0">
                <a:latin typeface="Century Gothic" panose="020B0502020202020204" pitchFamily="34" charset="0"/>
                <a:cs typeface="Cascadia Code SemiBold" panose="020B0609020000020004" pitchFamily="49" charset="0"/>
              </a:rPr>
              <a:t>обавянето на нови партиди е лесно само със сканира на баркода</a:t>
            </a:r>
          </a:p>
          <a:p>
            <a:pPr algn="ctr">
              <a:buFont typeface="Wingdings" panose="05000000000000000000" pitchFamily="2" charset="2"/>
              <a:buChar char="§"/>
            </a:pPr>
            <a:r>
              <a:rPr lang="bg-BG" dirty="0" smtClean="0">
                <a:latin typeface="Century Gothic" panose="020B0502020202020204" pitchFamily="34" charset="0"/>
                <a:cs typeface="Cascadia Code SemiBold" panose="020B0609020000020004" pitchFamily="49" charset="0"/>
              </a:rPr>
              <a:t>Получавайте автоматично известие 3 месеца преди изтичане на срока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83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61716"/>
            <a:ext cx="10820400" cy="28024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/>
              <a:t>AND THE BEST OF </a:t>
            </a:r>
            <a:r>
              <a:rPr lang="en-US" sz="6000" b="1" dirty="0" smtClean="0"/>
              <a:t>ALL</a:t>
            </a:r>
            <a:r>
              <a:rPr lang="en-US" sz="6000" b="1" dirty="0" smtClean="0"/>
              <a:t>…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139913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138" y="2523393"/>
            <a:ext cx="10981592" cy="25171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bg-BG" sz="2400" dirty="0" smtClean="0"/>
              <a:t>Чрез нашата система може да обявите тези лекарства до болници в същия регион, които имат недостиг от това лекарство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779" y="3751574"/>
            <a:ext cx="4034497" cy="25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85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988363"/>
            <a:ext cx="10820400" cy="2802467"/>
          </a:xfrm>
        </p:spPr>
        <p:txBody>
          <a:bodyPr>
            <a:noAutofit/>
          </a:bodyPr>
          <a:lstStyle/>
          <a:p>
            <a:pPr algn="ctr"/>
            <a:r>
              <a:rPr lang="bg-BG" sz="6600" b="1" dirty="0" smtClean="0"/>
              <a:t>КАКВИ СА ПОЛЗИТЕ ОТ ТОВА</a:t>
            </a:r>
            <a:r>
              <a:rPr lang="bg-BG" sz="6600" b="1" dirty="0"/>
              <a:t>?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2348249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931" y="3094893"/>
            <a:ext cx="10964008" cy="2719347"/>
          </a:xfrm>
        </p:spPr>
        <p:txBody>
          <a:bodyPr anchor="ctr">
            <a:normAutofit/>
          </a:bodyPr>
          <a:lstStyle/>
          <a:p>
            <a:pPr algn="ctr">
              <a:buFont typeface="Wingdings" panose="05000000000000000000" pitchFamily="2" charset="2"/>
              <a:buChar char="§"/>
            </a:pPr>
            <a:r>
              <a:rPr lang="bg-BG" sz="2400" dirty="0" smtClean="0"/>
              <a:t>Спестява </a:t>
            </a:r>
            <a:r>
              <a:rPr lang="bg-BG" sz="2400" dirty="0" smtClean="0"/>
              <a:t>милиони левове за </a:t>
            </a:r>
            <a:r>
              <a:rPr lang="bg-BG" sz="2400" dirty="0" smtClean="0"/>
              <a:t>болниците!!!</a:t>
            </a:r>
            <a:endParaRPr lang="bg-BG" sz="2400" dirty="0" smtClean="0"/>
          </a:p>
          <a:p>
            <a:pPr algn="ctr">
              <a:buFont typeface="Wingdings" panose="05000000000000000000" pitchFamily="2" charset="2"/>
              <a:buChar char="§"/>
            </a:pPr>
            <a:r>
              <a:rPr lang="bg-BG" sz="2400" dirty="0" smtClean="0"/>
              <a:t>Без повече </a:t>
            </a:r>
            <a:r>
              <a:rPr lang="bg-BG" sz="2400" dirty="0" smtClean="0"/>
              <a:t>изхвърляне на </a:t>
            </a:r>
            <a:r>
              <a:rPr lang="bg-BG" sz="2400" dirty="0" smtClean="0"/>
              <a:t>лекарства!!</a:t>
            </a:r>
            <a:endParaRPr lang="bg-BG" sz="2400" dirty="0" smtClean="0"/>
          </a:p>
          <a:p>
            <a:pPr algn="ctr">
              <a:buFont typeface="Wingdings" panose="05000000000000000000" pitchFamily="2" charset="2"/>
              <a:buChar char="§"/>
            </a:pPr>
            <a:r>
              <a:rPr lang="bg-BG" sz="2400" dirty="0" smtClean="0"/>
              <a:t>Опазва </a:t>
            </a:r>
            <a:r>
              <a:rPr lang="bg-BG" sz="2400" dirty="0" smtClean="0"/>
              <a:t>на околната </a:t>
            </a:r>
            <a:r>
              <a:rPr lang="bg-BG" sz="2400" dirty="0" smtClean="0"/>
              <a:t>среда!</a:t>
            </a:r>
            <a:endParaRPr lang="bg-BG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581" y="0"/>
            <a:ext cx="4951535" cy="3301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67" y="4111463"/>
            <a:ext cx="2466610" cy="246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37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467" y="980179"/>
            <a:ext cx="10151533" cy="2604495"/>
          </a:xfrm>
        </p:spPr>
        <p:txBody>
          <a:bodyPr>
            <a:normAutofit/>
          </a:bodyPr>
          <a:lstStyle/>
          <a:p>
            <a:r>
              <a:rPr lang="bg-BG" sz="5400" b="1" dirty="0" smtClean="0"/>
              <a:t>Софтуерна Архитектура на разработката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25681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5039263" y="1098482"/>
            <a:ext cx="2191626" cy="1868853"/>
            <a:chOff x="5039263" y="1098482"/>
            <a:chExt cx="2191626" cy="186885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4512" y="1479481"/>
              <a:ext cx="1227480" cy="1487854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5039263" y="1098482"/>
              <a:ext cx="2191626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blurRad="6350" stA="53000" endA="300" endPos="35500" dir="5400000" sy="-90000" algn="bl" rotWithShape="0"/>
                  </a:effectLst>
                </a:rPr>
                <a:t>ASP.NET MVC</a:t>
              </a:r>
              <a:endParaRPr lang="en-US" sz="2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14" name="Rectangle 13"/>
          <p:cNvSpPr/>
          <p:nvPr/>
        </p:nvSpPr>
        <p:spPr>
          <a:xfrm>
            <a:off x="6496111" y="2107642"/>
            <a:ext cx="174759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SQL Server</a:t>
            </a:r>
            <a:endParaRPr lang="en-US" sz="24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2133610" y="3467365"/>
            <a:ext cx="2058576" cy="2075140"/>
            <a:chOff x="2133610" y="3467365"/>
            <a:chExt cx="2058576" cy="207514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9158" y="4054651"/>
              <a:ext cx="1227480" cy="1487854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2133610" y="3467365"/>
              <a:ext cx="205857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1" cap="none" spc="0" dirty="0" smtClean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rPr>
                <a:t>Express.js</a:t>
              </a:r>
              <a:endParaRPr lang="en-US" sz="32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832163" y="3414593"/>
            <a:ext cx="2050561" cy="2125401"/>
            <a:chOff x="7832163" y="3414593"/>
            <a:chExt cx="2050561" cy="2125401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3704" y="4052140"/>
              <a:ext cx="1227480" cy="1487854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7832163" y="3414593"/>
              <a:ext cx="2050561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600" b="1" dirty="0" err="1" smtClean="0">
                  <a:ln w="12700">
                    <a:solidFill>
                      <a:srgbClr val="00B050"/>
                    </a:solidFill>
                    <a:prstDash val="solid"/>
                  </a:ln>
                  <a:solidFill>
                    <a:srgbClr val="99FF66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Quarkus</a:t>
              </a:r>
              <a:endParaRPr lang="en-US" sz="3600" b="1" dirty="0">
                <a:ln w="12700">
                  <a:solidFill>
                    <a:srgbClr val="00B050"/>
                  </a:solidFill>
                  <a:prstDash val="solid"/>
                </a:ln>
                <a:solidFill>
                  <a:srgbClr val="99FF66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098051" y="4644600"/>
            <a:ext cx="21082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PostgreSQL</a:t>
            </a:r>
            <a:endParaRPr lang="en-US" sz="28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420982" y="4626458"/>
            <a:ext cx="153439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UPC_DB</a:t>
            </a:r>
            <a:endParaRPr lang="en-US" sz="28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0999" y="6030966"/>
            <a:ext cx="185339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err="1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Teseract</a:t>
            </a:r>
            <a:endParaRPr lang="en-US" sz="32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cxnSp>
        <p:nvCxnSpPr>
          <p:cNvPr id="26" name="Straight Arrow Connector 25"/>
          <p:cNvCxnSpPr>
            <a:endCxn id="23" idx="0"/>
          </p:cNvCxnSpPr>
          <p:nvPr/>
        </p:nvCxnSpPr>
        <p:spPr>
          <a:xfrm flipH="1">
            <a:off x="1367695" y="5384800"/>
            <a:ext cx="1181463" cy="6461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" idx="2"/>
          </p:cNvCxnSpPr>
          <p:nvPr/>
        </p:nvCxnSpPr>
        <p:spPr>
          <a:xfrm flipH="1">
            <a:off x="4101081" y="2967335"/>
            <a:ext cx="2137171" cy="151220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0" idx="2"/>
            <a:endCxn id="18" idx="1"/>
          </p:cNvCxnSpPr>
          <p:nvPr/>
        </p:nvCxnSpPr>
        <p:spPr>
          <a:xfrm>
            <a:off x="6238252" y="2967335"/>
            <a:ext cx="2005452" cy="1828732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5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9569" y="2363831"/>
            <a:ext cx="8428910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8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Благодарим Ви </a:t>
            </a:r>
          </a:p>
          <a:p>
            <a:pPr algn="ctr"/>
            <a:r>
              <a:rPr lang="bg-BG" sz="8000" b="1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за вниманието!</a:t>
            </a:r>
            <a:endParaRPr lang="en-US" sz="8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12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196</TotalTime>
  <Words>146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 Antiqua</vt:lpstr>
      <vt:lpstr>Britannic Bold</vt:lpstr>
      <vt:lpstr>Cascadia Code SemiBold</vt:lpstr>
      <vt:lpstr>Century Gothic</vt:lpstr>
      <vt:lpstr>Wingdings</vt:lpstr>
      <vt:lpstr>Vapor Trail</vt:lpstr>
      <vt:lpstr>SmartMeds</vt:lpstr>
      <vt:lpstr>Проблем</vt:lpstr>
      <vt:lpstr>Тук идваме ние</vt:lpstr>
      <vt:lpstr>С ИДЕЯ, КОЯТО ДОСЕГА НЕ Е СЪЗДАВАНА</vt:lpstr>
      <vt:lpstr>PowerPoint Presentation</vt:lpstr>
      <vt:lpstr>AND THE BEST OF ALL…</vt:lpstr>
      <vt:lpstr>PowerPoint Presentation</vt:lpstr>
      <vt:lpstr>КАКВИ СА ПОЛЗИТЕ ОТ ТОВА?</vt:lpstr>
      <vt:lpstr>PowerPoint Presentation</vt:lpstr>
      <vt:lpstr>Софтуерна Архитектура на разработката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SmartMeds</dc:title>
  <dc:creator>Sisi</dc:creator>
  <cp:lastModifiedBy>user</cp:lastModifiedBy>
  <cp:revision>19</cp:revision>
  <dcterms:created xsi:type="dcterms:W3CDTF">2025-11-30T07:28:17Z</dcterms:created>
  <dcterms:modified xsi:type="dcterms:W3CDTF">2025-11-30T11:38:01Z</dcterms:modified>
</cp:coreProperties>
</file>